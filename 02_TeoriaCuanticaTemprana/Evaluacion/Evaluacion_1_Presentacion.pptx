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rt_black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731520"/>
            <a:ext cx="5943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4000" b="1" i="0">
                <a:solidFill>
                  <a:srgbClr val="00C8FF"/>
                </a:solidFill>
              </a:rPr>
              <a:t>El Cuerpo Negro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3000" b="1" i="0">
                <a:solidFill>
                  <a:srgbClr val="FFFFFF"/>
                </a:solidFill>
              </a:rPr>
              <a:t>y la Revolución de Planck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500" b="0" i="1">
                <a:solidFill>
                  <a:srgbClr val="AAAABB"/>
                </a:solidFill>
              </a:rPr>
              <a:t>De la crisis del paradigma clásico
al nacimiento de la Física Cuántica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4572000" cy="2743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5303520" cy="2194560"/>
          </a:xfrm>
          <a:prstGeom prst="rect">
            <a:avLst/>
          </a:prstGeom>
          <a:solidFill>
            <a:srgbClr val="12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000" b="1" i="0">
                <a:solidFill>
                  <a:srgbClr val="00C8FF"/>
                </a:solidFill>
              </a:rPr>
              <a:t>Formato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Exposición oral en video (5 minutos máx.)</a:t>
            </a:r>
          </a:p>
          <a:p>
            <a:pPr algn="l"/>
            <a:r>
              <a:rPr sz="3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000" b="1" i="0">
                <a:solidFill>
                  <a:srgbClr val="00C8FF"/>
                </a:solidFill>
              </a:rPr>
              <a:t>Enfoque pedagógico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Transposición didáctica con analogías en</a:t>
            </a:r>
          </a:p>
          <a:p>
            <a:pPr algn="l"/>
            <a:r>
              <a:rPr sz="1100" b="1" i="0">
                <a:solidFill>
                  <a:srgbClr val="7BFFC4"/>
                </a:solidFill>
              </a:rPr>
              <a:t>Geomática y Teledetección</a:t>
            </a:r>
          </a:p>
          <a:p>
            <a:pPr algn="l"/>
            <a:r>
              <a:rPr sz="3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000" b="1" i="0">
                <a:solidFill>
                  <a:srgbClr val="00C8FF"/>
                </a:solidFill>
              </a:rPr>
              <a:t>Tópicos obligatorios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1. Radiación Térmica del Cuerpo Negro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2. Catástrofe Ultravioleta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3. Cuantización de Planck</a:t>
            </a:r>
          </a:p>
          <a:p>
            <a:pPr algn="l"/>
            <a:r>
              <a:rPr sz="3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1000" b="0" i="0">
                <a:solidFill>
                  <a:srgbClr val="AAAABB"/>
                </a:solidFill>
              </a:rPr>
              <a:t>Evaluación 1 — Teoría Cuántica Temprana</a:t>
            </a:r>
          </a:p>
          <a:p>
            <a:pPr algn="l"/>
            <a:r>
              <a:rPr sz="1000" b="0" i="0">
                <a:solidFill>
                  <a:srgbClr val="AAAABB"/>
                </a:solidFill>
              </a:rPr>
              <a:t>Docentes: Pablo Solano · Paulraj Manidurai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900" b="1" i="0">
                <a:solidFill>
                  <a:srgbClr val="AAAABB"/>
                </a:solidFill>
              </a:rPr>
              <a:t>DIPLOMADO EN FÍSICA MODERNA — EVALUACIÓN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2400" b="1" i="0">
                <a:solidFill>
                  <a:srgbClr val="00C8FF"/>
                </a:solidFill>
              </a:rPr>
              <a:t>1. La Radiación del Cuerpo Negro e Incapacidad Clásica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30000" cy="2743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black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51560"/>
            <a:ext cx="603504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105156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7BFFC4"/>
                </a:solidFill>
              </a:rPr>
              <a:t>Concepto y Propiedades Físicas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• Cuerpo Negro Ideal: Absorbe el 100% de la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  radiación incidente y emite solo según T  (ε = 1).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• Modelo Experimental: Cavidad cerrada con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  un pequeño orificio de salida.</a:t>
            </a:r>
          </a:p>
          <a:p>
            <a:pPr algn="l"/>
            <a:r>
              <a:rPr sz="4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400" b="1" i="0">
                <a:solidFill>
                  <a:srgbClr val="7BFFC4"/>
                </a:solidFill>
              </a:rPr>
              <a:t>Leyes empíricas establecidas</a:t>
            </a:r>
          </a:p>
        </p:txBody>
      </p:sp>
      <p:pic>
        <p:nvPicPr>
          <p:cNvPr id="10" name="Picture 9" descr="stef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21945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971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000" b="0" i="0">
                <a:solidFill>
                  <a:srgbClr val="AAAABB"/>
                </a:solidFill>
              </a:rPr>
              <a:t>Stefan-Boltzmann (1879):</a:t>
            </a:r>
          </a:p>
        </p:txBody>
      </p:sp>
      <p:pic>
        <p:nvPicPr>
          <p:cNvPr id="12" name="Picture 11" descr="sigma_v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3063240"/>
            <a:ext cx="3291840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000" b="0" i="0">
                <a:solidFill>
                  <a:srgbClr val="AAAABB"/>
                </a:solidFill>
              </a:rPr>
              <a:t>Wien (1893):</a:t>
            </a:r>
          </a:p>
        </p:txBody>
      </p:sp>
      <p:pic>
        <p:nvPicPr>
          <p:cNvPr id="14" name="Picture 13" descr="wi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11880"/>
            <a:ext cx="3931920" cy="320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" y="40690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7BFFC4"/>
                </a:solidFill>
              </a:rPr>
              <a:t>El desafío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La curva experimental era precisa y medible.</a:t>
            </a:r>
          </a:p>
          <a:p>
            <a:pPr algn="l"/>
            <a:r>
              <a:rPr sz="1200" b="1" i="0">
                <a:solidFill>
                  <a:srgbClr val="FF6B35"/>
                </a:solidFill>
              </a:rPr>
              <a:t>La energía total es finita — nunca infinita.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54880"/>
            <a:ext cx="11430000" cy="27432"/>
          </a:xfrm>
          <a:prstGeom prst="rect">
            <a:avLst/>
          </a:prstGeom>
          <a:solidFill>
            <a:srgbClr val="7BF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892040"/>
            <a:ext cx="11430000" cy="1645920"/>
          </a:xfrm>
          <a:prstGeom prst="rect">
            <a:avLst/>
          </a:prstGeom>
          <a:solidFill>
            <a:srgbClr val="12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9377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7BFFC4"/>
                </a:solidFill>
              </a:rPr>
              <a:t>🌍 Analogía en Teledetección / Radiometría</a:t>
            </a:r>
          </a:p>
          <a:p>
            <a:pPr algn="l"/>
            <a:r>
              <a:rPr sz="1100" b="0" i="1">
                <a:solidFill>
                  <a:srgbClr val="FFFFFF"/>
                </a:solidFill>
              </a:rPr>
              <a:t>"Un sensor multiespectral (Landsat / Sentinel-2) mide la radiancia espectral de la superficie.</a:t>
            </a:r>
          </a:p>
          <a:p>
            <a:pPr algn="l"/>
            <a:r>
              <a:rPr sz="1100" b="0" i="1">
                <a:solidFill>
                  <a:srgbClr val="FFFFFF"/>
                </a:solidFill>
              </a:rPr>
              <a:t>Si la teoría clásica fuera cierta, cada banda espectral hacia el UV sumaría energía infinita.</a:t>
            </a:r>
          </a:p>
          <a:p>
            <a:pPr algn="l"/>
            <a:r>
              <a:rPr sz="1100" b="0" i="1">
                <a:solidFill>
                  <a:srgbClr val="FFFFFF"/>
                </a:solidFill>
              </a:rPr>
              <a:t>Sin embargo, cualquier radiómetro real muestra que la señal decae en el UV — exactamente como predice Planck."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900" b="1" i="0">
                <a:solidFill>
                  <a:srgbClr val="AAAABB"/>
                </a:solidFill>
              </a:rPr>
              <a:t>DIPLOMADO EN FÍSICA MODERNA — EVALUACIÓN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2400" b="1" i="0">
                <a:solidFill>
                  <a:srgbClr val="FF6B35"/>
                </a:solidFill>
              </a:rPr>
              <a:t>2. La Catástrofe del Ultravioleta: El Colapso Clásico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300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j_plan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51560"/>
            <a:ext cx="603504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105156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400" b="1" i="0">
                <a:solidFill>
                  <a:srgbClr val="FF6B35"/>
                </a:solidFill>
              </a:rPr>
              <a:t>La Ley de Rayleigh-Jeans (1900–05)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• Equipartición: cada modo recibe</a:t>
            </a:r>
          </a:p>
        </p:txBody>
      </p:sp>
      <p:pic>
        <p:nvPicPr>
          <p:cNvPr id="9" name="Picture 8" descr="equ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3200400" cy="320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20116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200" b="0" i="0">
                <a:solidFill>
                  <a:srgbClr val="FFFFFF"/>
                </a:solidFill>
              </a:rPr>
              <a:t>• Densidad de modos:</a:t>
            </a:r>
          </a:p>
        </p:txBody>
      </p:sp>
      <p:pic>
        <p:nvPicPr>
          <p:cNvPr id="11" name="Picture 10" descr="m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240280"/>
            <a:ext cx="219456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2788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300" b="1" i="0">
                <a:solidFill>
                  <a:srgbClr val="FF6B35"/>
                </a:solidFill>
              </a:rPr>
              <a:t>Ecuación Clásica de Rayleigh-Jeans:</a:t>
            </a:r>
          </a:p>
        </p:txBody>
      </p:sp>
      <p:pic>
        <p:nvPicPr>
          <p:cNvPr id="13" name="Picture 12" descr="r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63240"/>
            <a:ext cx="36576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" y="36576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FF6B35"/>
                </a:solidFill>
              </a:rPr>
              <a:t>La Crisis (Ehrenfest, 1911):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No es un error de cálculo.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Es consecuencia inevitable de combinar</a:t>
            </a:r>
          </a:p>
          <a:p>
            <a:pPr algn="l"/>
            <a:r>
              <a:rPr sz="1200" b="0" i="0">
                <a:solidFill>
                  <a:srgbClr val="FFFFFF"/>
                </a:solidFill>
              </a:rPr>
              <a:t>termodinámica + electromagnetismo clásicos.</a:t>
            </a:r>
          </a:p>
        </p:txBody>
      </p:sp>
      <p:pic>
        <p:nvPicPr>
          <p:cNvPr id="15" name="Picture 14" descr="diver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754880"/>
            <a:ext cx="329184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65760" y="52578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400" b="1" i="0">
                <a:solidFill>
                  <a:srgbClr val="FF6B35"/>
                </a:solidFill>
              </a:rPr>
              <a:t>∞ modos × energía constante = 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BF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900" b="1" i="0">
                <a:solidFill>
                  <a:srgbClr val="AAAABB"/>
                </a:solidFill>
              </a:rPr>
              <a:t>DIPLOMADO EN FÍSICA MODERNA — EVALUACIÓN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2400" b="1" i="0">
                <a:solidFill>
                  <a:srgbClr val="7BFFC4"/>
                </a:solidFill>
              </a:rPr>
              <a:t>3. La Hipótesis de Planck y la Cuantización de la Energía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30000" cy="27432"/>
          </a:xfrm>
          <a:prstGeom prst="rect">
            <a:avLst/>
          </a:prstGeom>
          <a:solidFill>
            <a:srgbClr val="7BF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7BF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400" b="1" i="0">
                <a:solidFill>
                  <a:srgbClr val="7BFFC4"/>
                </a:solidFill>
              </a:rPr>
              <a:t>El Postulado de Cuantización (1900)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Los osciladores intercambian energía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únicamente en paquetes discretos (cuantos):</a:t>
            </a:r>
          </a:p>
        </p:txBody>
      </p:sp>
      <p:pic>
        <p:nvPicPr>
          <p:cNvPr id="8" name="Picture 7" descr="qu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4572000" cy="411480"/>
          </a:xfrm>
          <a:prstGeom prst="rect">
            <a:avLst/>
          </a:prstGeom>
        </p:spPr>
      </p:pic>
      <p:pic>
        <p:nvPicPr>
          <p:cNvPr id="9" name="Picture 8" descr="h_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2926080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26517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300" b="1" i="0">
                <a:solidFill>
                  <a:srgbClr val="7BFFC4"/>
                </a:solidFill>
              </a:rPr>
              <a:t>Distribución Cuántica de Planck:</a:t>
            </a:r>
          </a:p>
        </p:txBody>
      </p:sp>
      <p:pic>
        <p:nvPicPr>
          <p:cNvPr id="11" name="Picture 10" descr="plan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2926080"/>
            <a:ext cx="502920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35661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300" b="1" i="0">
                <a:solidFill>
                  <a:srgbClr val="7BFFC4"/>
                </a:solidFill>
              </a:rPr>
              <a:t>Supresión Exponencial:</a:t>
            </a:r>
          </a:p>
        </p:txBody>
      </p:sp>
      <p:pic>
        <p:nvPicPr>
          <p:cNvPr id="13" name="Picture 12" descr="low_freq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840480"/>
            <a:ext cx="4389120" cy="274320"/>
          </a:xfrm>
          <a:prstGeom prst="rect">
            <a:avLst/>
          </a:prstGeom>
        </p:spPr>
      </p:pic>
      <p:pic>
        <p:nvPicPr>
          <p:cNvPr id="14" name="Picture 13" descr="high_fre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160520"/>
            <a:ext cx="4389120" cy="274320"/>
          </a:xfrm>
          <a:prstGeom prst="rect">
            <a:avLst/>
          </a:prstGeom>
        </p:spPr>
      </p:pic>
      <p:pic>
        <p:nvPicPr>
          <p:cNvPr id="15" name="Picture 14" descr="chart_rj_plan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1051560"/>
            <a:ext cx="6035040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43600" y="406908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100" b="0" i="0">
                <a:solidFill>
                  <a:srgbClr val="FFFFFF"/>
                </a:solidFill>
              </a:rPr>
              <a:t>El "precio de entrada" mínimo (hν) supera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la energía térmica disponible (k_BT).</a:t>
            </a:r>
          </a:p>
          <a:p>
            <a:pPr algn="l"/>
            <a:r>
              <a:rPr sz="1100" b="1" i="0">
                <a:solidFill>
                  <a:srgbClr val="7BFFC4"/>
                </a:solidFill>
              </a:rPr>
              <a:t>→ Los modos UV quedan "congelados".</a:t>
            </a:r>
          </a:p>
          <a:p>
            <a:pPr algn="l"/>
            <a:r>
              <a:rPr sz="1000" b="0" i="1">
                <a:solidFill>
                  <a:srgbClr val="AAAABB"/>
                </a:solidFill>
              </a:rPr>
              <a:t>"Un acto de desesperación" — Max Planck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54880"/>
            <a:ext cx="11430000" cy="27432"/>
          </a:xfrm>
          <a:prstGeom prst="rect">
            <a:avLst/>
          </a:prstGeom>
          <a:solidFill>
            <a:srgbClr val="7BF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892040"/>
            <a:ext cx="11430000" cy="1645920"/>
          </a:xfrm>
          <a:prstGeom prst="rect">
            <a:avLst/>
          </a:prstGeom>
          <a:solidFill>
            <a:srgbClr val="12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93776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1" i="0">
                <a:solidFill>
                  <a:srgbClr val="7BFFC4"/>
                </a:solidFill>
              </a:rPr>
              <a:t>📡 Analogía: Digitalización Radiométrica (DN)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En sensores de Teledetección (Sentinel-2, LiDAR), la radiancia analógica se muestrea en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Valores Digitales Discretos (DN). No existe el DN 127.5, solo 127 o 128.</a:t>
            </a:r>
          </a:p>
          <a:p>
            <a:pPr algn="l"/>
            <a:r>
              <a:rPr sz="1100" b="0" i="0">
                <a:solidFill>
                  <a:srgbClr val="FFFFFF"/>
                </a:solidFill>
              </a:rPr>
              <a:t>Planck aplicó exactamente esta discretización a la energía: si k_BT no alcanza para</a:t>
            </a:r>
          </a:p>
          <a:p>
            <a:pPr algn="l"/>
            <a:r>
              <a:rPr sz="1100" b="1" i="0">
                <a:solidFill>
                  <a:srgbClr val="7BFFC4"/>
                </a:solidFill>
              </a:rPr>
              <a:t>subir al primer peldaño (hν), el modo queda desierto.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900" b="1" i="0">
                <a:solidFill>
                  <a:srgbClr val="AAAABB"/>
                </a:solidFill>
              </a:rPr>
              <a:t>DIPLOMADO EN FÍSICA MODERNA — EVALUACIÓN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2400" b="1" i="0">
                <a:solidFill>
                  <a:srgbClr val="FFE066"/>
                </a:solidFill>
              </a:rPr>
              <a:t>Conclusión: El Cambio de Paradigma en la Física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430000" cy="27432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606040"/>
            <a:ext cx="11430000" cy="36576"/>
          </a:xfrm>
          <a:prstGeom prst="rect">
            <a:avLst/>
          </a:prstGeom>
          <a:solidFill>
            <a:srgbClr val="AAAA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496312"/>
            <a:ext cx="201168" cy="25603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9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00C8FF"/>
                </a:solidFill>
              </a:rPr>
              <a:t>1879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Stefan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45719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R = σT⁴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496312"/>
            <a:ext cx="201168" cy="25603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00C8FF"/>
                </a:solidFill>
              </a:rPr>
              <a:t>1893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Wien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λ_max·T = 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496312"/>
            <a:ext cx="201168" cy="2560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79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FF6B35"/>
                </a:solidFill>
              </a:rPr>
              <a:t>1900–05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Rayleigh
&amp; Jeans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Catástrofe UV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496312"/>
            <a:ext cx="201168" cy="256032"/>
          </a:xfrm>
          <a:prstGeom prst="rect">
            <a:avLst/>
          </a:prstGeom>
          <a:solidFill>
            <a:srgbClr val="7BF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7BFFC4"/>
                </a:solidFill>
              </a:rPr>
              <a:t>1900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Planck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E = nhν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2496312"/>
            <a:ext cx="201168" cy="256032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FFE066"/>
                </a:solidFill>
              </a:rPr>
              <a:t>1905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Einstein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Fotones
E = hν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2496312"/>
            <a:ext cx="201168" cy="256032"/>
          </a:xfrm>
          <a:prstGeom prst="rect">
            <a:avLst/>
          </a:prstGeom>
          <a:solidFill>
            <a:srgbClr val="00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00C8FF"/>
                </a:solidFill>
              </a:rPr>
              <a:t>1913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Bohr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L = nℏ
Eₙ = −13.6/n²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49840" y="2496312"/>
            <a:ext cx="201168" cy="256032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96596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200" b="1" i="0">
                <a:solidFill>
                  <a:srgbClr val="C084FC"/>
                </a:solidFill>
              </a:rPr>
              <a:t>1925–26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880360"/>
            <a:ext cx="1463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1000" b="1" i="0">
                <a:solidFill>
                  <a:srgbClr val="FFFFFF"/>
                </a:solidFill>
              </a:rPr>
              <a:t>Heisenberg
Schrödinger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3383280"/>
            <a:ext cx="1554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/>
            <a:r>
              <a:rPr sz="900" b="0" i="0">
                <a:solidFill>
                  <a:srgbClr val="AAAABB"/>
                </a:solidFill>
              </a:rPr>
              <a:t>ĤΨ = EΨ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251960"/>
            <a:ext cx="11430000" cy="27432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3891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400" b="1" i="0">
                <a:solidFill>
                  <a:srgbClr val="FFE066"/>
                </a:solidFill>
              </a:rPr>
              <a:t>⚡ Impacto en la Ciencia y Tecnología Moderna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846320"/>
            <a:ext cx="3474720" cy="1051560"/>
          </a:xfrm>
          <a:prstGeom prst="rect">
            <a:avLst/>
          </a:prstGeom>
          <a:solidFill>
            <a:srgbClr val="12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8920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7BFFC4"/>
                </a:solidFill>
              </a:rPr>
              <a:t>💡 Semiconductores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La banda prohibida es un
efecto directo de la
cuantización de la energía.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4846320"/>
            <a:ext cx="3474720" cy="1051560"/>
          </a:xfrm>
          <a:prstGeom prst="rect">
            <a:avLst/>
          </a:prstGeom>
          <a:solidFill>
            <a:srgbClr val="12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48920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7BFFC4"/>
                </a:solidFill>
              </a:rPr>
              <a:t>📡 Sensores CMOS/CCD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Cámaras satelitales (Sentinel,
Landsat) detectan fotones
individuales.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4846320"/>
            <a:ext cx="3474720" cy="1051560"/>
          </a:xfrm>
          <a:prstGeom prst="rect">
            <a:avLst/>
          </a:prstGeom>
          <a:solidFill>
            <a:srgbClr val="12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80" y="4892040"/>
            <a:ext cx="3200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200" b="1" i="0">
                <a:solidFill>
                  <a:srgbClr val="7BFFC4"/>
                </a:solidFill>
              </a:rPr>
              <a:t>🔬 Láseres / LiDAR</a:t>
            </a:r>
          </a:p>
          <a:p>
            <a:pPr algn="l"/>
            <a:r>
              <a:rPr sz="1000" b="0" i="0">
                <a:solidFill>
                  <a:srgbClr val="FFFFFF"/>
                </a:solidFill>
              </a:rPr>
              <a:t>LiDAR, Raman, fluorescencia:
todas las técnicas espectrales
dependen de emisión cuántica.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989320"/>
            <a:ext cx="10698480" cy="36576"/>
          </a:xfrm>
          <a:prstGeom prst="rect">
            <a:avLst/>
          </a:prstGeom>
          <a:solidFill>
            <a:srgbClr val="FFE0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6080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/>
            <a:r>
              <a:rPr sz="1400" b="0" i="1">
                <a:solidFill>
                  <a:srgbClr val="FFE066"/>
                </a:solidFill>
              </a:rPr>
              <a:t>"La catástrofe ultravioleta no fue una falla menor — fue la grieta por donde entró toda la física cuántica."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