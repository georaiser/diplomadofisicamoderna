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_black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 i="0">
                <a:solidFill>
                  <a:srgbClr val="00C8FF"/>
                </a:solidFill>
              </a:rPr>
              <a:t>El Cuerpo Negro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y la Revolución de Planck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1">
                <a:solidFill>
                  <a:srgbClr val="AAAABB"/>
                </a:solidFill>
              </a:rPr>
              <a:t>De la crisis del paradigma clásico
al nacimiento de la Física Cuántica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411480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886200"/>
            <a:ext cx="5029200" cy="182880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FFFFFF"/>
                </a:solidFill>
              </a:rPr>
              <a:t>• Formato: Exposición oral en video (5 minutos max.)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• Enfoque pedagógico: Analogías en Geomática</a:t>
            </a:r>
          </a:p>
          <a:p>
            <a:pPr algn="l"/>
            <a:r>
              <a:rPr sz="1100" b="0" i="0">
                <a:solidFill>
                  <a:srgbClr val="7BFFC4"/>
                </a:solidFill>
              </a:rPr>
              <a:t>  y Teledetección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• Tópicos: Radiación Térmica | Catástrofe UV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| Cuantización de Planck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AAAABB"/>
                </a:solidFill>
              </a:rPr>
              <a:t>Evaluación 1 — Teoría Cuántica Temprana</a:t>
            </a:r>
          </a:p>
          <a:p>
            <a:pPr algn="l"/>
            <a:r>
              <a:rPr sz="1000" b="0" i="0">
                <a:solidFill>
                  <a:srgbClr val="AAAABB"/>
                </a:solidFill>
              </a:rPr>
              <a:t>Docentes: Pablo Solano · Paulraj Manidurai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900" b="1" i="0">
                <a:solidFill>
                  <a:srgbClr val="AAAABB"/>
                </a:solidFill>
              </a:rPr>
              <a:t>DIPLOMADO EN FÍSICA MODERNA — EVALUACIÓN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400" b="1" i="0">
                <a:solidFill>
                  <a:srgbClr val="00C8FF"/>
                </a:solidFill>
              </a:rPr>
              <a:t>1. La Radiación del Cuerpo Negro e Incapacidad Clásica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black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8521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0515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7BFFC4"/>
                </a:solidFill>
              </a:rPr>
              <a:t>Concepto y Propiedades Físicas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• Cuerpo Negro Ideal: Absorbe el 100% de la radiación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incidente y emite únicamente en función de T (ε = 1).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• Modelo Experimental: Cavidad con orificio de salida.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7BFFC4"/>
                </a:solidFill>
              </a:rPr>
              <a:t>Leyes empíricas establecidas</a:t>
            </a:r>
          </a:p>
          <a:p>
            <a:pPr algn="l"/>
            <a:r>
              <a:rPr sz="1300" b="1" i="0">
                <a:solidFill>
                  <a:srgbClr val="FFE066"/>
                </a:solidFill>
              </a:rPr>
              <a:t>  Stefan-Boltzmann (1879):   R = σT⁴</a:t>
            </a:r>
          </a:p>
          <a:p>
            <a:pPr algn="l"/>
            <a:r>
              <a:rPr sz="1100" b="0" i="0">
                <a:solidFill>
                  <a:srgbClr val="AAAABB"/>
                </a:solidFill>
              </a:rPr>
              <a:t>  σ = 5.67×10⁻⁸ W m⁻² K⁻⁴</a:t>
            </a:r>
          </a:p>
          <a:p>
            <a:pPr algn="l"/>
            <a:r>
              <a:rPr sz="1300" b="1" i="0">
                <a:solidFill>
                  <a:srgbClr val="FFE066"/>
                </a:solidFill>
              </a:rPr>
              <a:t>  Wien (1893):   λ_max · T = 2.898×10⁻³ m·K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7BFFC4"/>
                </a:solidFill>
              </a:rPr>
              <a:t>El desafío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La curva experimental era precisa y medible.</a:t>
            </a:r>
          </a:p>
          <a:p>
            <a:pPr algn="l"/>
            <a:r>
              <a:rPr sz="1200" b="1" i="0">
                <a:solidFill>
                  <a:srgbClr val="FF6B35"/>
                </a:solidFill>
              </a:rPr>
              <a:t>La energía total es finita — nunca infinita.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11430000" cy="27432"/>
          </a:xfrm>
          <a:prstGeom prst="rect">
            <a:avLst/>
          </a:prstGeom>
          <a:solidFill>
            <a:srgbClr val="7B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11430000" cy="182880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BFFC4"/>
                </a:solidFill>
              </a:rPr>
              <a:t>🌍 Analogía en Teledetección / Radiometría</a:t>
            </a:r>
          </a:p>
          <a:p>
            <a:pPr algn="l"/>
            <a:r>
              <a:rPr sz="1100" b="0" i="1">
                <a:solidFill>
                  <a:srgbClr val="FFFFFF"/>
                </a:solidFill>
              </a:rPr>
              <a:t>"Un sensor multiespectral (Landsat / Sentinel-2) mide la radiancia espectral.</a:t>
            </a:r>
          </a:p>
          <a:p>
            <a:pPr algn="l"/>
            <a:r>
              <a:rPr sz="1100" b="0" i="1">
                <a:solidFill>
                  <a:srgbClr val="FFFFFF"/>
                </a:solidFill>
              </a:rPr>
              <a:t>Si la teoría clásica fuera cierta, cada banda hacia el UV sumaría energía infinita.</a:t>
            </a:r>
          </a:p>
          <a:p>
            <a:pPr algn="l"/>
            <a:r>
              <a:rPr sz="1100" b="0" i="1">
                <a:solidFill>
                  <a:srgbClr val="FFFFFF"/>
                </a:solidFill>
              </a:rPr>
              <a:t>Sin embargo, los sensores muestran que la radiancia decae en el UV,</a:t>
            </a:r>
          </a:p>
          <a:p>
            <a:pPr algn="l"/>
            <a:r>
              <a:rPr sz="1100" b="0" i="1">
                <a:solidFill>
                  <a:srgbClr val="FFFFFF"/>
                </a:solidFill>
              </a:rPr>
              <a:t>tal como mide un radiómetro de campo."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900" b="1" i="0">
                <a:solidFill>
                  <a:srgbClr val="AAAABB"/>
                </a:solidFill>
              </a:rPr>
              <a:t>DIPLOMADO EN FÍSICA MODERNA — EVALUACIÓN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400" b="1" i="0">
                <a:solidFill>
                  <a:srgbClr val="FF6B35"/>
                </a:solidFill>
              </a:rPr>
              <a:t>2. La Catástrofe del Ultravioleta: El Colapso Clásico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rj_plan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8521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0515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6B35"/>
                </a:solidFill>
              </a:rPr>
              <a:t>La Ley de Rayleigh-Jeans y la Crisis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• Teorema de Equipartición: Asigna ⟨E⟩ = k_B·T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a cada modo de oscilación EM en la cavidad.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• Densidad de Modos: Crece cuadráticamente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con la frecuencia:  g(f) = 8πf²/c³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FF6B35"/>
                </a:solidFill>
              </a:rPr>
              <a:t>Ecuación Clásica de Rayleigh-Jeans:</a:t>
            </a:r>
          </a:p>
          <a:p>
            <a:pPr algn="l"/>
            <a:r>
              <a:rPr sz="1400" b="1" i="0">
                <a:solidFill>
                  <a:srgbClr val="FFE066"/>
                </a:solidFill>
              </a:rPr>
              <a:t>  W(f, T) = (8π f² / c³) · k_B T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FF6B35"/>
                </a:solidFill>
              </a:rPr>
              <a:t>La Crisis (Paul Ehrenfest, 1911):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Cuando λ → 0 (f → ∞), la integral de energía</a:t>
            </a:r>
          </a:p>
          <a:p>
            <a:pPr algn="l"/>
            <a:r>
              <a:rPr sz="1200" b="1" i="0">
                <a:solidFill>
                  <a:srgbClr val="FF6B35"/>
                </a:solidFill>
              </a:rPr>
              <a:t>diverge a INFINITO.</a:t>
            </a:r>
          </a:p>
          <a:p>
            <a:pPr algn="l"/>
            <a:r>
              <a:rPr sz="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No es un error de cálculo.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Es consecuencia inevitable de combinar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termodinámica + electromagnetismo clásicos.</a:t>
            </a:r>
          </a:p>
          <a:p>
            <a:pPr algn="l"/>
            <a:r>
              <a:rPr sz="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FF6B35"/>
                </a:solidFill>
              </a:rPr>
              <a:t>Infinitos modos × energía fija = 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900" b="1" i="0">
                <a:solidFill>
                  <a:srgbClr val="AAAABB"/>
                </a:solidFill>
              </a:rPr>
              <a:t>DIPLOMADO EN FÍSICA MODERNA — EVALUACIÓN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400" b="1" i="0">
                <a:solidFill>
                  <a:srgbClr val="7BFFC4"/>
                </a:solidFill>
              </a:rPr>
              <a:t>3. La Hipótesis de Planck y la Cuantización de la Energía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7B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B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7BFFC4"/>
                </a:solidFill>
              </a:rPr>
              <a:t>El Postulado de Cuantización (1900)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Los osciladores intercambian energía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únicamente en Paquetes Discretos (cuantos):</a:t>
            </a:r>
          </a:p>
          <a:p>
            <a:pPr algn="l"/>
            <a:r>
              <a:rPr sz="1500" b="1" i="0">
                <a:solidFill>
                  <a:srgbClr val="FFE066"/>
                </a:solidFill>
              </a:rPr>
              <a:t>  E_n = n · h f    (n = 0, 1, 2, 3...)</a:t>
            </a:r>
          </a:p>
          <a:p>
            <a:pPr algn="l"/>
            <a:r>
              <a:rPr sz="1200" b="0" i="0">
                <a:solidFill>
                  <a:srgbClr val="AAAABB"/>
                </a:solidFill>
              </a:rPr>
              <a:t>  h = 6.626 × 10⁻³⁴ J·s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7BFFC4"/>
                </a:solidFill>
              </a:rPr>
              <a:t>Distribución Cuántica de Planck:</a:t>
            </a:r>
          </a:p>
          <a:p>
            <a:pPr algn="l"/>
            <a:r>
              <a:rPr sz="1300" b="1" i="0">
                <a:solidFill>
                  <a:srgbClr val="FFE066"/>
                </a:solidFill>
              </a:rPr>
              <a:t>  W(f,T) = (8πhf³/c³) · 1/(e^(hf/k_BT) - 1)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7BFFC4"/>
                </a:solidFill>
              </a:rPr>
              <a:t>Supresión Exponencial: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A alta frecuencia: hf &gt;&gt; k_BT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→ El "precio de entrada" mínimo (hf) supera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la energía térmica disponible (k_BT).</a:t>
            </a:r>
          </a:p>
          <a:p>
            <a:pPr algn="l"/>
            <a:r>
              <a:rPr sz="1200" b="1" i="0">
                <a:solidFill>
                  <a:srgbClr val="7BFFC4"/>
                </a:solidFill>
              </a:rPr>
              <a:t>→ Los modos UV quedan "congelados".</a:t>
            </a:r>
          </a:p>
          <a:p>
            <a:pPr algn="l"/>
            <a:r>
              <a:rPr sz="1200" b="1" i="0">
                <a:solidFill>
                  <a:srgbClr val="7BFFC4"/>
                </a:solidFill>
              </a:rPr>
              <a:t>→ W(f) → 0 naturalmente. ¡Sin catástrofe!</a:t>
            </a:r>
          </a:p>
        </p:txBody>
      </p:sp>
      <p:pic>
        <p:nvPicPr>
          <p:cNvPr id="8" name="Picture 7" descr="chart_rj_plan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85216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38862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0" i="1">
                <a:solidFill>
                  <a:srgbClr val="AAAABB"/>
                </a:solidFill>
              </a:rPr>
              <a:t>"Un acto de desesperación" — Max Planck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11430000" cy="27432"/>
          </a:xfrm>
          <a:prstGeom prst="rect">
            <a:avLst/>
          </a:prstGeom>
          <a:solidFill>
            <a:srgbClr val="7B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11430000" cy="182880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BFFC4"/>
                </a:solidFill>
              </a:rPr>
              <a:t>📡 Analogía: Digitalización Radiométrica (DN)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En sensores de Teledetección (Sentinel-2, LiDAR), la radiancia analógica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se muestrea en Valores Digitales Discretos (DN). No existe el DN 127.5,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solo 127 o 128. Planck aplicó exactamente esta discretización a la energía:</a:t>
            </a:r>
          </a:p>
          <a:p>
            <a:pPr algn="l"/>
            <a:r>
              <a:rPr sz="1100" b="1" i="0">
                <a:solidFill>
                  <a:srgbClr val="7BFFC4"/>
                </a:solidFill>
              </a:rPr>
              <a:t>si k_BT no alcanza para subir al primer peldaño (hf), el modo queda desierto.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900" b="1" i="0">
                <a:solidFill>
                  <a:srgbClr val="AAAABB"/>
                </a:solidFill>
              </a:rPr>
              <a:t>DIPLOMADO EN FÍSICA MODERNA — EVALUACIÓN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400" b="1" i="0">
                <a:solidFill>
                  <a:srgbClr val="FFE066"/>
                </a:solidFill>
              </a:rPr>
              <a:t>Conclusión: El Cambio de Paradigma en la Física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606040"/>
            <a:ext cx="11430000" cy="36576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496312"/>
            <a:ext cx="201168" cy="2560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200" b="1" i="0">
                <a:solidFill>
                  <a:srgbClr val="00C8FF"/>
                </a:solidFill>
              </a:rPr>
              <a:t>1879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80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Stefan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45719" y="33832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0" i="0">
                <a:solidFill>
                  <a:srgbClr val="AAAABB"/>
                </a:solidFill>
              </a:rPr>
              <a:t>R = σT⁴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496312"/>
            <a:ext cx="201168" cy="2560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200" b="1" i="0">
                <a:solidFill>
                  <a:srgbClr val="00C8FF"/>
                </a:solidFill>
              </a:rPr>
              <a:t>1893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80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Wien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832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0" i="0">
                <a:solidFill>
                  <a:srgbClr val="AAAABB"/>
                </a:solidFill>
              </a:rPr>
              <a:t>λ_max·T =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496312"/>
            <a:ext cx="201168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79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200" b="1" i="0">
                <a:solidFill>
                  <a:srgbClr val="FF6B35"/>
                </a:solidFill>
              </a:rPr>
              <a:t>1900-05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880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Rayleigh-
Jeans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3832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0" i="0">
                <a:solidFill>
                  <a:srgbClr val="AAAABB"/>
                </a:solidFill>
              </a:rPr>
              <a:t>Catástrofe UV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496312"/>
            <a:ext cx="201168" cy="256032"/>
          </a:xfrm>
          <a:prstGeom prst="rect">
            <a:avLst/>
          </a:prstGeom>
          <a:solidFill>
            <a:srgbClr val="7B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200" b="1" i="0">
                <a:solidFill>
                  <a:srgbClr val="7BFFC4"/>
                </a:solidFill>
              </a:rPr>
              <a:t>1900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880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Planck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3832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0" i="0">
                <a:solidFill>
                  <a:srgbClr val="AAAABB"/>
                </a:solidFill>
              </a:rPr>
              <a:t>E = nhf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496312"/>
            <a:ext cx="201168" cy="256032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200" b="1" i="0">
                <a:solidFill>
                  <a:srgbClr val="FFE066"/>
                </a:solidFill>
              </a:rPr>
              <a:t>1905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80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Einstein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832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0" i="0">
                <a:solidFill>
                  <a:srgbClr val="AAAABB"/>
                </a:solidFill>
              </a:rPr>
              <a:t>Fotones
E = hf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496312"/>
            <a:ext cx="201168" cy="2560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200" b="1" i="0">
                <a:solidFill>
                  <a:srgbClr val="00C8FF"/>
                </a:solidFill>
              </a:rPr>
              <a:t>1913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880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Bohr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3832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0" i="0">
                <a:solidFill>
                  <a:srgbClr val="AAAABB"/>
                </a:solidFill>
              </a:rPr>
              <a:t>L = nℏ
E_n = -13.6/n²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0" y="2496312"/>
            <a:ext cx="201168" cy="25603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200" b="1" i="0">
                <a:solidFill>
                  <a:srgbClr val="C084FC"/>
                </a:solidFill>
              </a:rPr>
              <a:t>1925-26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880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Heisenberg
Schrödinger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3832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0" i="0">
                <a:solidFill>
                  <a:srgbClr val="AAAABB"/>
                </a:solidFill>
              </a:rPr>
              <a:t>ĤΨ = EΨ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51960"/>
            <a:ext cx="11430000" cy="27432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891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400" b="1" i="0">
                <a:solidFill>
                  <a:srgbClr val="FFE066"/>
                </a:solidFill>
              </a:rPr>
              <a:t>Impacto en la Ciencia y Tecnología Moderna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46320"/>
            <a:ext cx="3474720" cy="105156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7BFFC4"/>
                </a:solidFill>
              </a:rPr>
              <a:t>💡 Semiconductores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La banda prohibida es
un efecto de cuantización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846320"/>
            <a:ext cx="3474720" cy="105156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4892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7BFFC4"/>
                </a:solidFill>
              </a:rPr>
              <a:t>📡 Sensores CMOS/CCD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Cámaras satelitales
detectan fotones individuales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4846320"/>
            <a:ext cx="3474720" cy="105156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4892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7BFFC4"/>
                </a:solidFill>
              </a:rPr>
              <a:t>🔬 Láseres / LiDAR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Espectrometría: emisi
ón cuántica pura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1447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0" i="1">
                <a:solidFill>
                  <a:srgbClr val="FFE066"/>
                </a:solidFill>
              </a:rPr>
              <a:t>"La catástrofe ultravioleta no fue una falla menor — fue la grieta por donde entró toda la física cuántica."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